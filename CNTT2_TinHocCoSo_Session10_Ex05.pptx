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Số cảnh báo</c:v>
                </c:pt>
              </c:strCache>
            </c:strRef>
          </c:tx>
          <c:dPt>
            <c:idx val="0"/>
            <c:spPr>
              <a:solidFill>
                <a:srgbClr val="1D4ED8"/>
              </a:solidFill>
            </c:spPr>
          </c:dPt>
          <c:dPt>
            <c:idx val="1"/>
            <c:spPr>
              <a:solidFill>
                <a:srgbClr val="1D4ED8"/>
              </a:solidFill>
            </c:spPr>
          </c:dPt>
          <c:dPt>
            <c:idx val="2"/>
            <c:spPr>
              <a:solidFill>
                <a:srgbClr val="1D4ED8"/>
              </a:solidFill>
            </c:spPr>
          </c:dPt>
          <c:dPt>
            <c:idx val="3"/>
            <c:spPr>
              <a:solidFill>
                <a:srgbClr val="64748B"/>
              </a:solidFill>
            </c:spPr>
          </c:dPt>
          <c:cat>
            <c:strRef>
              <c:f>Sheet1!$A$2:$A$5</c:f>
              <c:strCache>
                <c:ptCount val="4"/>
                <c:pt idx="0">
                  <c:v>Lokibot</c:v>
                </c:pt>
                <c:pt idx="1">
                  <c:v>Emotet</c:v>
                </c:pt>
                <c:pt idx="2">
                  <c:v>Cobalt Strike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645</c:v>
                </c:pt>
                <c:pt idx="1">
                  <c:v>312</c:v>
                </c:pt>
                <c:pt idx="2">
                  <c:v>186</c:v>
                </c:pt>
                <c:pt idx="3">
                  <c:v>105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4000" b="1">
                <a:solidFill>
                  <a:srgbClr val="F8FAFC"/>
                </a:solidFill>
                <a:latin typeface="Inter"/>
              </a:rPr>
              <a:t>Báo cáo An ninh mạng NetGuard &amp; Phòng thủ 3 Tầng</a:t>
            </a:r>
          </a:p>
          <a:p>
            <a:r>
              <a:rPr sz="2000">
                <a:solidFill>
                  <a:srgbClr val="CBD5E1"/>
                </a:solidFill>
                <a:latin typeface="Inter"/>
              </a:rPr>
              <a:t>Chuẩn hóa nhật ký hệ thống bằng VLOOKUP, TRIM và AutoFilter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60A5FA"/>
                </a:solidFill>
                <a:latin typeface="Inter"/>
              </a:rPr>
              <a:t>Thi Thành Đạt  |  MSSV: N26DTCN041  |  Lớp: CNTT2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Inter"/>
              </a:rPr>
              <a:t>PHẦN 1 — XỬ LÝ EXCEL &amp; WORD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Chuẩn hóa &amp; Lọc Nhanh Nhật ký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AutoFilter bảng tính: </a:t>
            </a:r>
            <a:r>
              <a:rPr sz="1600">
                <a:solidFill>
                  <a:srgbClr val="334155"/>
                </a:solidFill>
                <a:latin typeface="Inter"/>
              </a:rPr>
              <a:t>Hoạt động như Google Search, lọc nhanh IP nguồn và mức cảnh báo.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Hàm TRIM khử khoảng trắng: </a:t>
            </a:r>
            <a:r>
              <a:rPr sz="1600">
                <a:solidFill>
                  <a:srgbClr val="334155"/>
                </a:solidFill>
                <a:latin typeface="Inter"/>
              </a:rPr>
              <a:t>Bọc TRIM(Lookup_value) trong VLOOKUP giúp xóa khoảng trắng thừa.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Tra cứu mã độc VLOOKUP: </a:t>
            </a:r>
            <a:r>
              <a:rPr sz="1600">
                <a:solidFill>
                  <a:srgbClr val="334155"/>
                </a:solidFill>
                <a:latin typeface="Inter"/>
              </a:rPr>
              <a:t>Nối mã ID từ Nhật ký sang Cơ sở dữ liệu virus chính xác tuyệt đối.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Navigation Pane &amp; Auto TOC: </a:t>
            </a:r>
            <a:r>
              <a:rPr sz="1600">
                <a:solidFill>
                  <a:srgbClr val="334155"/>
                </a:solidFill>
                <a:latin typeface="Inter"/>
              </a:rPr>
              <a:t>Điều hướng nhanh tài liệu dài và tự động cập nhật số trang mục lục.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4155"/>
                </a:solidFill>
                <a:latin typeface="Inter"/>
              </a:rPr>
              <a:t>NetGuard Center | Thi Thành Đạt  |  Trang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Inter"/>
              </a:rPr>
              <a:t>PHẦN 2 — KẾT QUẢ PHÂN TÍCH SỰ CỐ AN NINH MẠNG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"/>
              </a:rPr>
              <a:t>Lokibot và Emotet Chiếm 76.7% Trong Tổng Số 1,248 Cảnh báo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Lokibot (MDL_2045): </a:t>
            </a:r>
            <a:r>
              <a:rPr sz="1600">
                <a:solidFill>
                  <a:srgbClr val="334155"/>
                </a:solidFill>
                <a:latin typeface="Inter"/>
              </a:rPr>
              <a:t>645 cảnh báo (51.7%) — Info Stealer mức Trung bình từ IP 192.168.1.23.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Emotet (MDL_1023): </a:t>
            </a:r>
            <a:r>
              <a:rPr sz="1600">
                <a:solidFill>
                  <a:srgbClr val="334155"/>
                </a:solidFill>
                <a:latin typeface="Inter"/>
              </a:rPr>
              <a:t>312 cảnh báo (25.0%) — Banking Trojan mức Cao từ IP 192.168.1.10.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Cobalt Strike (MDL_3099): </a:t>
            </a:r>
            <a:r>
              <a:rPr sz="1600">
                <a:solidFill>
                  <a:srgbClr val="334155"/>
                </a:solidFill>
                <a:latin typeface="Inter"/>
              </a:rPr>
              <a:t>186 cảnh báo (14.9%) — Công cụ xâm nhập mức Cao tới 10.0.0.12.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Nhóm mã độc Khác: </a:t>
            </a:r>
            <a:r>
              <a:rPr sz="1600">
                <a:solidFill>
                  <a:srgbClr val="334155"/>
                </a:solidFill>
                <a:latin typeface="Inter"/>
              </a:rPr>
              <a:t>105 cảnh báo (8.4%) — Các sự kiện thăm dò mức độ Thấp (tổng 291).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103120"/>
          <a:ext cx="55778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4155"/>
                </a:solidFill>
                <a:latin typeface="Inter"/>
              </a:rPr>
              <a:t>Nguồn: Báo cáo An ninh NetGuard (Tổng 1,248 cảnh báo: Cao 312, Trung bình 645, Thấp 291)  |  Trang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Inter"/>
              </a:rPr>
              <a:t>PHẦN 3 — MÔ HÌNH PHÒNG THỦ TRỌNG TÂM (PROTECT - DETECT - RESPOND)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"/>
              </a:rPr>
              <a:t>Sơ đồ Phân cấp Chiến lược Phòng thủ An ninh mạng 3 Tầng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20624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7490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Inter"/>
              </a:rPr>
              <a:t>1. PROTECT</a:t>
            </a:r>
          </a:p>
          <a:p>
            <a:pPr algn="l" marL="228600" indent="-228600">
              <a:spcAft>
                <a:spcPts val="10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Tường lửa vòng ngoài: </a:t>
            </a:r>
            <a:r>
              <a:rPr sz="1500">
                <a:solidFill>
                  <a:srgbClr val="334155"/>
                </a:solidFill>
                <a:latin typeface="Inter"/>
              </a:rPr>
              <a:t>Chặn kết nối lạ và lọc tệp đính kèm email.</a:t>
            </a:r>
          </a:p>
          <a:p>
            <a:pPr algn="l" marL="228600" indent="-228600">
              <a:spcAft>
                <a:spcPts val="10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Quản lý bản vá: </a:t>
            </a:r>
            <a:r>
              <a:rPr sz="1500">
                <a:solidFill>
                  <a:srgbClr val="334155"/>
                </a:solidFill>
                <a:latin typeface="Inter"/>
              </a:rPr>
              <a:t>Cập nhật hệ điều hành và trình diệt virus.</a:t>
            </a:r>
          </a:p>
          <a:p>
            <a:pPr algn="l" marL="228600" indent="-228600">
              <a:spcAft>
                <a:spcPts val="10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Phân quyền tối thiểu: </a:t>
            </a:r>
            <a:r>
              <a:rPr sz="1500">
                <a:solidFill>
                  <a:srgbClr val="334155"/>
                </a:solidFill>
                <a:latin typeface="Inter"/>
              </a:rPr>
              <a:t>Giới hạn quyền quản trị trên từng máy trạm.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20624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7490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Inter"/>
              </a:rPr>
              <a:t>2. DETECT</a:t>
            </a:r>
          </a:p>
          <a:p>
            <a:pPr algn="l" marL="228600" indent="-228600">
              <a:spcAft>
                <a:spcPts val="10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Giám sát nhật ký: </a:t>
            </a:r>
            <a:r>
              <a:rPr sz="1500">
                <a:solidFill>
                  <a:srgbClr val="334155"/>
                </a:solidFill>
                <a:latin typeface="Inter"/>
              </a:rPr>
              <a:t>Thu thập System Log liên tục theo thời gian thực.</a:t>
            </a:r>
          </a:p>
          <a:p>
            <a:pPr algn="l" marL="228600" indent="-228600">
              <a:spcAft>
                <a:spcPts val="10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Chuẩn hóa dữ liệu: </a:t>
            </a:r>
            <a:r>
              <a:rPr sz="1500">
                <a:solidFill>
                  <a:srgbClr val="334155"/>
                </a:solidFill>
                <a:latin typeface="Inter"/>
              </a:rPr>
              <a:t>Nối mã ID bằng VLOOKUP bọc hàm TRIM.</a:t>
            </a:r>
          </a:p>
          <a:p>
            <a:pPr algn="l" marL="228600" indent="-228600">
              <a:spcAft>
                <a:spcPts val="10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Khoanh vùng nhanh: </a:t>
            </a:r>
            <a:r>
              <a:rPr sz="1500">
                <a:solidFill>
                  <a:srgbClr val="334155"/>
                </a:solidFill>
                <a:latin typeface="Inter"/>
              </a:rPr>
              <a:t>Lọc IP cảnh báo Cao bằng bộ lọc AutoFilter.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20624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7490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Inter"/>
              </a:rPr>
              <a:t>3. RESPOND</a:t>
            </a:r>
          </a:p>
          <a:p>
            <a:pPr algn="l" marL="228600" indent="-228600">
              <a:spcAft>
                <a:spcPts val="10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Cô lập điểm nóng: </a:t>
            </a:r>
            <a:r>
              <a:rPr sz="1500">
                <a:solidFill>
                  <a:srgbClr val="334155"/>
                </a:solidFill>
                <a:latin typeface="Inter"/>
              </a:rPr>
              <a:t>Ngắt mạng ngay máy trạm 192.168.1.10.</a:t>
            </a:r>
          </a:p>
          <a:p>
            <a:pPr algn="l" marL="228600" indent="-228600">
              <a:spcAft>
                <a:spcPts val="10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Gỡ bỏ mã độc: </a:t>
            </a:r>
            <a:r>
              <a:rPr sz="1500">
                <a:solidFill>
                  <a:srgbClr val="334155"/>
                </a:solidFill>
                <a:latin typeface="Inter"/>
              </a:rPr>
              <a:t>Quét sạch Emotet, Cobalt Strike và Lokibot.</a:t>
            </a:r>
          </a:p>
          <a:p>
            <a:pPr algn="l" marL="228600" indent="-228600">
              <a:spcAft>
                <a:spcPts val="10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Khôi phục an toàn: </a:t>
            </a:r>
            <a:r>
              <a:rPr sz="1500">
                <a:solidFill>
                  <a:srgbClr val="334155"/>
                </a:solidFill>
                <a:latin typeface="Inter"/>
              </a:rPr>
              <a:t>Đặt lại mật khẩu và rà soát máy chủ đích.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4155"/>
                </a:solidFill>
                <a:latin typeface="Inter"/>
              </a:rPr>
              <a:t>Mô hình phòng thủ phân cấp 3 tầng NetGuard: Protect -&gt; Detect -&gt; Respond  |  Trang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3600" b="1">
                <a:solidFill>
                  <a:srgbClr val="F8FAFC"/>
                </a:solidFill>
                <a:latin typeface="Inter"/>
              </a:rPr>
              <a:t>Chuẩn hóa Dữ liệu Cảnh báo Để Bảo vệ Hệ thống Toàn diện</a:t>
            </a:r>
          </a:p>
          <a:p>
            <a:r>
              <a:rPr sz="1800">
                <a:solidFill>
                  <a:srgbClr val="60A5FA"/>
                </a:solidFill>
                <a:latin typeface="Inter"/>
              </a:rPr>
              <a:t>Cảm ơn giảng viên đã theo dõi  |  Thi Thành Đạt (N26DTCN041 - CNTT2)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